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Aplicaciones administradas (acum.)</c:v>
                </c:pt>
              </c:strCache>
            </c:strRef>
          </c:tx>
          <c:spPr>
            <a:solidFill>
              <a:srgbClr val="011B5D"/>
            </a:solidFill>
            <a:ln w="31750" cap="flat">
              <a:solidFill>
                <a:srgbClr val="011B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11B5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11B5D"/>
              </a:solidFill>
              <a:ln w="9525" cap="flat">
                <a:solidFill>
                  <a:srgbClr val="011B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Dic'25</c:v>
                  </c:pt>
                  <c:pt idx="1">
                    <c:v>Ene</c:v>
                  </c:pt>
                  <c:pt idx="2">
                    <c:v>Feb</c:v>
                  </c:pt>
                  <c:pt idx="3">
                    <c:v>Mar</c:v>
                  </c:pt>
                  <c:pt idx="4">
                    <c:v>Abr</c:v>
                  </c:pt>
                  <c:pt idx="5">
                    <c:v>May</c:v>
                  </c:pt>
                  <c:pt idx="6">
                    <c:v>Jun</c:v>
                  </c:pt>
                  <c:pt idx="7">
                    <c:v>Jul</c:v>
                  </c:pt>
                  <c:pt idx="8">
                    <c:v>Ago*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145</c:v>
                </c:pt>
                <c:pt idx="1">
                  <c:v>158</c:v>
                </c:pt>
                <c:pt idx="2">
                  <c:v>163</c:v>
                </c:pt>
                <c:pt idx="3">
                  <c:v>165</c:v>
                </c:pt>
                <c:pt idx="4">
                  <c:v>166</c:v>
                </c:pt>
                <c:pt idx="5">
                  <c:v>169</c:v>
                </c:pt>
                <c:pt idx="6">
                  <c:v>176</c:v>
                </c:pt>
                <c:pt idx="7">
                  <c:v>176</c:v>
                </c:pt>
                <c:pt idx="8">
                  <c:v>176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11B5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AE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877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0"/>
          <c:min val="13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DE APLICACIONES · 1 DE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cambiaron las cifras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Identidades  ·  Actualizado al 11 de agosto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correcciones distintas se mezclaron en la misma conversación. Ninguna es un error de cálculo: una es calidad de datos en la CMDB, la otra es una decisión de alcance.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9525">
            <a:solidFill>
              <a:srgbClr val="D6DAE4"/>
            </a:solidFill>
            <a:prstDash val="solid"/>
          </a:ln>
          <a:effectLst>
            <a:outerShdw sx="100000" sy="100000" kx="0" ky="0" algn="bl" rotWithShape="0" blurRad="76200" dist="25400" dir="5400000">
              <a:srgbClr val="8290A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82296" cy="4709160"/>
          </a:xfrm>
          <a:prstGeom prst="rect">
            <a:avLst/>
          </a:prstGeom>
          <a:solidFill>
            <a:srgbClr val="011B5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1907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Calidad de registro en la CMDB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dashboard leía un filtro de ServiceNow que excluía aplicaciones reales. No cambió el negocio: se corrigió el conteo.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3314090"/>
            <a:ext cx="662940" cy="1715110"/>
          </a:xfrm>
          <a:prstGeom prst="roundRect">
            <a:avLst>
              <a:gd name="adj" fmla="val 4138"/>
            </a:avLst>
          </a:prstGeom>
          <a:solidFill>
            <a:srgbClr val="011B5D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058058"/>
            <a:ext cx="8458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5084064"/>
            <a:ext cx="9372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CMDB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440180" y="3314090"/>
            <a:ext cx="164592" cy="0"/>
          </a:xfrm>
          <a:prstGeom prst="line">
            <a:avLst/>
          </a:prstGeom>
          <a:noFill/>
          <a:ln w="12700">
            <a:solidFill>
              <a:srgbClr val="D6DAE4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604772" y="3132734"/>
            <a:ext cx="662940" cy="181356"/>
          </a:xfrm>
          <a:prstGeom prst="roundRect">
            <a:avLst>
              <a:gd name="adj" fmla="val 15126"/>
            </a:avLst>
          </a:prstGeom>
          <a:solidFill>
            <a:srgbClr val="F1CD00"/>
          </a:solidFill>
          <a:ln/>
        </p:spPr>
      </p:sp>
      <p:sp>
        <p:nvSpPr>
          <p:cNvPr id="15" name="Text 13"/>
          <p:cNvSpPr/>
          <p:nvPr/>
        </p:nvSpPr>
        <p:spPr>
          <a:xfrm>
            <a:off x="1513332" y="2876702"/>
            <a:ext cx="8458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7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467612" y="5084064"/>
            <a:ext cx="9372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Servicios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externos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2267712" y="3132734"/>
            <a:ext cx="164592" cy="0"/>
          </a:xfrm>
          <a:prstGeom prst="line">
            <a:avLst/>
          </a:prstGeom>
          <a:noFill/>
          <a:ln w="12700">
            <a:solidFill>
              <a:srgbClr val="D6DAE4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432304" y="3049829"/>
            <a:ext cx="662940" cy="82906"/>
          </a:xfrm>
          <a:prstGeom prst="roundRect">
            <a:avLst>
              <a:gd name="adj" fmla="val 33088"/>
            </a:avLst>
          </a:prstGeom>
          <a:solidFill>
            <a:srgbClr val="F1CD00"/>
          </a:solidFill>
          <a:ln/>
        </p:spPr>
      </p:sp>
      <p:sp>
        <p:nvSpPr>
          <p:cNvPr id="19" name="Text 17"/>
          <p:cNvSpPr/>
          <p:nvPr/>
        </p:nvSpPr>
        <p:spPr>
          <a:xfrm>
            <a:off x="2340864" y="2793797"/>
            <a:ext cx="8458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7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295144" y="5084064"/>
            <a:ext cx="9372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Sin registro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CMDB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3095244" y="3049829"/>
            <a:ext cx="164592" cy="0"/>
          </a:xfrm>
          <a:prstGeom prst="line">
            <a:avLst/>
          </a:prstGeom>
          <a:noFill/>
          <a:ln w="12700">
            <a:solidFill>
              <a:srgbClr val="D6DAE4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259836" y="2930652"/>
            <a:ext cx="662940" cy="119177"/>
          </a:xfrm>
          <a:prstGeom prst="roundRect">
            <a:avLst>
              <a:gd name="adj" fmla="val 23018"/>
            </a:avLst>
          </a:prstGeom>
          <a:solidFill>
            <a:srgbClr val="F1CD00"/>
          </a:solidFill>
          <a:ln/>
        </p:spPr>
      </p:sp>
      <p:sp>
        <p:nvSpPr>
          <p:cNvPr id="23" name="Text 21"/>
          <p:cNvSpPr/>
          <p:nvPr/>
        </p:nvSpPr>
        <p:spPr>
          <a:xfrm>
            <a:off x="3168396" y="2674620"/>
            <a:ext cx="8458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7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122676" y="5084064"/>
            <a:ext cx="9372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Infra.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Siglo XXI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3922776" y="2930652"/>
            <a:ext cx="164592" cy="0"/>
          </a:xfrm>
          <a:prstGeom prst="line">
            <a:avLst/>
          </a:prstGeom>
          <a:noFill/>
          <a:ln w="12700">
            <a:solidFill>
              <a:srgbClr val="D6DAE4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087368" y="2868473"/>
            <a:ext cx="662940" cy="62179"/>
          </a:xfrm>
          <a:prstGeom prst="roundRect">
            <a:avLst>
              <a:gd name="adj" fmla="val 44118"/>
            </a:avLst>
          </a:prstGeom>
          <a:solidFill>
            <a:srgbClr val="F1CD00"/>
          </a:solidFill>
          <a:ln/>
        </p:spPr>
      </p:sp>
      <p:sp>
        <p:nvSpPr>
          <p:cNvPr id="27" name="Text 25"/>
          <p:cNvSpPr/>
          <p:nvPr/>
        </p:nvSpPr>
        <p:spPr>
          <a:xfrm>
            <a:off x="3995928" y="2612441"/>
            <a:ext cx="8458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7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950208" y="5084064"/>
            <a:ext cx="9372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Decomisadas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activas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4750308" y="2868473"/>
            <a:ext cx="164592" cy="0"/>
          </a:xfrm>
          <a:prstGeom prst="line">
            <a:avLst/>
          </a:prstGeom>
          <a:noFill/>
          <a:ln w="12700">
            <a:solidFill>
              <a:srgbClr val="D6DAE4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914900" y="2868473"/>
            <a:ext cx="662940" cy="2160727"/>
          </a:xfrm>
          <a:prstGeom prst="roundRect">
            <a:avLst>
              <a:gd name="adj" fmla="val 4138"/>
            </a:avLst>
          </a:prstGeom>
          <a:solidFill>
            <a:srgbClr val="011B5D"/>
          </a:solidFill>
          <a:ln/>
        </p:spPr>
      </p:sp>
      <p:sp>
        <p:nvSpPr>
          <p:cNvPr id="31" name="Text 29"/>
          <p:cNvSpPr/>
          <p:nvPr/>
        </p:nvSpPr>
        <p:spPr>
          <a:xfrm>
            <a:off x="4823460" y="2612441"/>
            <a:ext cx="8458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417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77740" y="5084064"/>
            <a:ext cx="9372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CMDB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actualizado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777240" y="5029200"/>
            <a:ext cx="4800600" cy="0"/>
          </a:xfrm>
          <a:prstGeom prst="line">
            <a:avLst/>
          </a:prstGeom>
          <a:noFill/>
          <a:ln w="12700">
            <a:solidFill>
              <a:srgbClr val="D6DA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34924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Conclusión: 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CMDB debía reflejar 417 aplicaciones, no 331. La diferencia (86) ya estaba bajo gestión de Identidades; solo faltaba registrarla o corregir su clasificación.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26480" y="1554480"/>
            <a:ext cx="5605272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9525">
            <a:solidFill>
              <a:srgbClr val="D6DAE4"/>
            </a:solidFill>
            <a:prstDash val="solid"/>
          </a:ln>
          <a:effectLst>
            <a:outerShdw sx="100000" sy="100000" kx="0" ky="0" algn="bl" rotWithShape="0" blurRad="76200" dist="25400" dir="5400000">
              <a:srgbClr val="8290A8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1554480"/>
            <a:ext cx="82296" cy="4709160"/>
          </a:xfrm>
          <a:prstGeom prst="rect">
            <a:avLst/>
          </a:prstGeom>
          <a:solidFill>
            <a:srgbClr val="F1CD00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1719072"/>
            <a:ext cx="5056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Ampliación del alcance de gobierno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46520" y="2057400"/>
            <a:ext cx="4965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amplió a propósito el criterio de recepción. Antes solo entraban apps con módulo de seguridad propio; ahora entran también apps estratégicas sin módulo, con controles compensatorios.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46520" y="3473849"/>
            <a:ext cx="1441704" cy="732391"/>
          </a:xfrm>
          <a:prstGeom prst="roundRect">
            <a:avLst>
              <a:gd name="adj" fmla="val 3746"/>
            </a:avLst>
          </a:prstGeom>
          <a:solidFill>
            <a:srgbClr val="011B5D"/>
          </a:solidFill>
          <a:ln/>
        </p:spPr>
      </p:sp>
      <p:sp>
        <p:nvSpPr>
          <p:cNvPr id="40" name="Text 38"/>
          <p:cNvSpPr/>
          <p:nvPr/>
        </p:nvSpPr>
        <p:spPr>
          <a:xfrm>
            <a:off x="6355080" y="3217817"/>
            <a:ext cx="1624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232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09360" y="4261104"/>
            <a:ext cx="17160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original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(módulo propio)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7888224" y="3473849"/>
            <a:ext cx="320040" cy="0"/>
          </a:xfrm>
          <a:prstGeom prst="line">
            <a:avLst/>
          </a:prstGeom>
          <a:noFill/>
          <a:ln w="12700">
            <a:solidFill>
              <a:srgbClr val="D6DAE4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8208264" y="2959281"/>
            <a:ext cx="1441704" cy="514568"/>
          </a:xfrm>
          <a:prstGeom prst="roundRect">
            <a:avLst>
              <a:gd name="adj" fmla="val 5331"/>
            </a:avLst>
          </a:prstGeom>
          <a:solidFill>
            <a:srgbClr val="F1CD00"/>
          </a:solidFill>
          <a:ln/>
        </p:spPr>
      </p:sp>
      <p:sp>
        <p:nvSpPr>
          <p:cNvPr id="44" name="Text 42"/>
          <p:cNvSpPr/>
          <p:nvPr/>
        </p:nvSpPr>
        <p:spPr>
          <a:xfrm>
            <a:off x="8116824" y="2703249"/>
            <a:ext cx="1624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7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+163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071104" y="4261104"/>
            <a:ext cx="17160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Estratégicas de negocio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Ciberseguridad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9649968" y="2959281"/>
            <a:ext cx="320040" cy="0"/>
          </a:xfrm>
          <a:prstGeom prst="line">
            <a:avLst/>
          </a:prstGeom>
          <a:noFill/>
          <a:ln w="12700">
            <a:solidFill>
              <a:srgbClr val="D6DAE4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9970008" y="2959281"/>
            <a:ext cx="1441704" cy="1246959"/>
          </a:xfrm>
          <a:prstGeom prst="roundRect">
            <a:avLst>
              <a:gd name="adj" fmla="val 2200"/>
            </a:avLst>
          </a:prstGeom>
          <a:solidFill>
            <a:srgbClr val="011B5D"/>
          </a:solidFill>
          <a:ln/>
        </p:spPr>
      </p:sp>
      <p:sp>
        <p:nvSpPr>
          <p:cNvPr id="48" name="Text 46"/>
          <p:cNvSpPr/>
          <p:nvPr/>
        </p:nvSpPr>
        <p:spPr>
          <a:xfrm>
            <a:off x="9878568" y="2703249"/>
            <a:ext cx="1624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395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832848" y="4261104"/>
            <a:ext cx="17160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2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Universo vigente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6446520" y="4206240"/>
            <a:ext cx="4965192" cy="0"/>
          </a:xfrm>
          <a:prstGeom prst="line">
            <a:avLst/>
          </a:prstGeom>
          <a:noFill/>
          <a:ln w="12700">
            <a:solidFill>
              <a:srgbClr val="D6DA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46520" y="4800600"/>
            <a:ext cx="4965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Controles compensatorios para apps sin módulo propio: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537960" y="5120640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Autenticación obligatoria vía Microsoft Entra ID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537960" y="5413248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Gestión de roles centralizada (sin cambios directos del dueño)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537960" y="5705856"/>
            <a:ext cx="4782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Despliegue de cambios de roles solo por Pipeline + aprobación de Identidades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46520" y="6053328"/>
            <a:ext cx="4965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Ej.: </a:t>
            </a:r>
            <a:pPr indent="0" marL="0">
              <a:buNone/>
            </a:pPr>
            <a:r>
              <a:rPr lang="en-US" sz="950" i="1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BPOne, Remesas y aplicaciones de Ciberseguridad ya operan bajo este esquema.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DE APLICACIONES · 2 DE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enero – agosto 2026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Identidades  ·  Actualizado al 11 de agosto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6DAE4"/>
            </a:solidFill>
            <a:prstDash val="solid"/>
          </a:ln>
          <a:effectLst>
            <a:outerShdw sx="100000" sy="100000" kx="0" ky="0" algn="bl" rotWithShape="0" blurRad="76200" dist="25400" dir="5400000">
              <a:srgbClr val="8290A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18872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21792" y="1691640"/>
            <a:ext cx="2368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Universo vigente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901952"/>
            <a:ext cx="2368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apps a incorporar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64408" y="10972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6DAE4"/>
            </a:solidFill>
            <a:prstDash val="solid"/>
          </a:ln>
          <a:effectLst>
            <a:outerShdw sx="100000" sy="100000" kx="0" ky="0" algn="bl" rotWithShape="0" blurRad="76200" dist="25400" dir="5400000">
              <a:srgbClr val="8290A8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18872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29000" y="1691640"/>
            <a:ext cx="2368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 administradas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29000" y="1901952"/>
            <a:ext cx="2368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44,6% del universo vigente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71616" y="10972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6DAE4"/>
            </a:solidFill>
            <a:prstDash val="solid"/>
          </a:ln>
          <a:effectLst>
            <a:outerShdw sx="100000" sy="100000" kx="0" ky="0" algn="bl" rotWithShape="0" blurRad="76200" dist="25400" dir="5400000">
              <a:srgbClr val="8290A8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118872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75,9%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36208" y="1691640"/>
            <a:ext cx="2368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Meta original (232)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36208" y="1901952"/>
            <a:ext cx="2368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sigue en buen ritmo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878824" y="10972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6DAE4"/>
            </a:solidFill>
            <a:prstDash val="solid"/>
          </a:ln>
          <a:effectLst>
            <a:outerShdw sx="100000" sy="100000" kx="0" ky="0" algn="bl" rotWithShape="0" blurRad="76200" dist="25400" dir="5400000">
              <a:srgbClr val="8290A8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43416" y="118872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417 / 417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043416" y="1691640"/>
            <a:ext cx="2368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CMDB reconciliada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043416" y="1901952"/>
            <a:ext cx="2368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de discrepancias explicadas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331720"/>
            <a:ext cx="67208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6DAE4"/>
            </a:solidFill>
            <a:prstDash val="solid"/>
          </a:ln>
          <a:effectLst>
            <a:outerShdw sx="100000" sy="100000" kx="0" ky="0" algn="bl" rotWithShape="0" blurRad="76200" dist="25400" dir="5400000">
              <a:srgbClr val="8290A8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2496312"/>
            <a:ext cx="6172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 administradas (acumulado)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2770632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nuevas incorporaciones desde junio: el equipo priorizó cerrar la reconciliación del universo antes de seguir sumando cifras.</a:t>
            </a:r>
            <a:endParaRPr lang="en-US" sz="9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85800" y="3246120"/>
          <a:ext cx="626364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731520" y="5989320"/>
            <a:ext cx="6172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*Ago: corte al 11 de agosto 2026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7315200" y="2331720"/>
            <a:ext cx="4416552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9525">
            <a:solidFill>
              <a:srgbClr val="D6DAE4"/>
            </a:solidFill>
            <a:prstDash val="solid"/>
          </a:ln>
          <a:effectLst>
            <a:outerShdw sx="100000" sy="100000" kx="0" ky="0" algn="bl" rotWithShape="0" blurRad="76200" dist="25400" dir="5400000">
              <a:srgbClr val="8290A8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571232" y="2496312"/>
            <a:ext cx="3904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priorización (395 apps)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571232" y="301752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Entregada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915400" y="3099816"/>
            <a:ext cx="2267712" cy="256032"/>
          </a:xfrm>
          <a:prstGeom prst="roundRect">
            <a:avLst>
              <a:gd name="adj" fmla="val 14286"/>
            </a:avLst>
          </a:prstGeom>
          <a:solidFill>
            <a:srgbClr val="011B5D"/>
          </a:solidFill>
          <a:ln/>
        </p:spPr>
      </p:sp>
      <p:sp>
        <p:nvSpPr>
          <p:cNvPr id="30" name="Text 27"/>
          <p:cNvSpPr/>
          <p:nvPr/>
        </p:nvSpPr>
        <p:spPr>
          <a:xfrm>
            <a:off x="11256264" y="301752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571232" y="3529584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 revisión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915400" y="3611880"/>
            <a:ext cx="1172510" cy="256032"/>
          </a:xfrm>
          <a:prstGeom prst="roundRect">
            <a:avLst>
              <a:gd name="adj" fmla="val 14286"/>
            </a:avLst>
          </a:prstGeom>
          <a:solidFill>
            <a:srgbClr val="687799"/>
          </a:solidFill>
          <a:ln/>
        </p:spPr>
      </p:sp>
      <p:sp>
        <p:nvSpPr>
          <p:cNvPr id="33" name="Text 30"/>
          <p:cNvSpPr/>
          <p:nvPr/>
        </p:nvSpPr>
        <p:spPr>
          <a:xfrm>
            <a:off x="10161062" y="3529584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571232" y="404164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Planificada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8915400" y="4123944"/>
            <a:ext cx="657121" cy="256032"/>
          </a:xfrm>
          <a:prstGeom prst="roundRect">
            <a:avLst>
              <a:gd name="adj" fmla="val 14286"/>
            </a:avLst>
          </a:prstGeom>
          <a:solidFill>
            <a:srgbClr val="28336E"/>
          </a:solidFill>
          <a:ln/>
        </p:spPr>
      </p:sp>
      <p:sp>
        <p:nvSpPr>
          <p:cNvPr id="36" name="Text 33"/>
          <p:cNvSpPr/>
          <p:nvPr/>
        </p:nvSpPr>
        <p:spPr>
          <a:xfrm>
            <a:off x="9645673" y="4041648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571232" y="4553712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Priorización 1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8915400" y="4636008"/>
            <a:ext cx="347888" cy="256032"/>
          </a:xfrm>
          <a:prstGeom prst="roundRect">
            <a:avLst>
              <a:gd name="adj" fmla="val 14286"/>
            </a:avLst>
          </a:prstGeom>
          <a:solidFill>
            <a:srgbClr val="F1CD00"/>
          </a:solidFill>
          <a:ln/>
        </p:spPr>
      </p:sp>
      <p:sp>
        <p:nvSpPr>
          <p:cNvPr id="39" name="Text 36"/>
          <p:cNvSpPr/>
          <p:nvPr/>
        </p:nvSpPr>
        <p:spPr>
          <a:xfrm>
            <a:off x="9336440" y="4553712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571232" y="5065776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Priorización 2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8915400" y="5148072"/>
            <a:ext cx="425196" cy="256032"/>
          </a:xfrm>
          <a:prstGeom prst="roundRect">
            <a:avLst>
              <a:gd name="adj" fmla="val 14286"/>
            </a:avLst>
          </a:prstGeom>
          <a:solidFill>
            <a:srgbClr val="F1CD00"/>
          </a:solidFill>
          <a:ln/>
        </p:spPr>
      </p:sp>
      <p:sp>
        <p:nvSpPr>
          <p:cNvPr id="42" name="Text 39"/>
          <p:cNvSpPr/>
          <p:nvPr/>
        </p:nvSpPr>
        <p:spPr>
          <a:xfrm>
            <a:off x="9413748" y="5065776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571232" y="557784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Priorización 3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8915400" y="5660136"/>
            <a:ext cx="219040" cy="256032"/>
          </a:xfrm>
          <a:prstGeom prst="roundRect">
            <a:avLst>
              <a:gd name="adj" fmla="val 16698"/>
            </a:avLst>
          </a:prstGeom>
          <a:solidFill>
            <a:srgbClr val="F1CD00"/>
          </a:solidFill>
          <a:ln/>
        </p:spPr>
      </p:sp>
      <p:sp>
        <p:nvSpPr>
          <p:cNvPr id="45" name="Text 42"/>
          <p:cNvSpPr/>
          <p:nvPr/>
        </p:nvSpPr>
        <p:spPr>
          <a:xfrm>
            <a:off x="9207592" y="5577840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DE APLICACIONES · 3 DE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a diciembre 2026 y meta ajustada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77824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Identidades  ·  Actualizado al 11 de agosto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12745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6DAE4"/>
            </a:solidFill>
            <a:prstDash val="solid"/>
          </a:ln>
          <a:effectLst>
            <a:outerShdw sx="100000" sy="100000" kx="0" ky="0" algn="bl" rotWithShape="0" blurRad="76200" dist="25400" dir="5400000">
              <a:srgbClr val="8290A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2801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 incorporación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63040" y="2377440"/>
            <a:ext cx="9262872" cy="0"/>
          </a:xfrm>
          <a:prstGeom prst="line">
            <a:avLst/>
          </a:prstGeom>
          <a:noFill/>
          <a:ln w="25400">
            <a:solidFill>
              <a:srgbClr val="D6DA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80744" y="2295144"/>
            <a:ext cx="164592" cy="164592"/>
          </a:xfrm>
          <a:prstGeom prst="ellipse">
            <a:avLst/>
          </a:prstGeom>
          <a:solidFill>
            <a:srgbClr val="011B5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(11 ago)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871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44,6% del universo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468368" y="2295144"/>
            <a:ext cx="164592" cy="164592"/>
          </a:xfrm>
          <a:prstGeom prst="ellipse">
            <a:avLst/>
          </a:prstGeom>
          <a:solidFill>
            <a:srgbClr val="011B5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6264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36264" y="24871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36264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Priorización criterio 1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555992" y="2295144"/>
            <a:ext cx="164592" cy="164592"/>
          </a:xfrm>
          <a:prstGeom prst="ellipse">
            <a:avLst/>
          </a:prstGeom>
          <a:solidFill>
            <a:srgbClr val="011B5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3888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23888" y="24871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23888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Priorización criterio 2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643616" y="2295144"/>
            <a:ext cx="164592" cy="164592"/>
          </a:xfrm>
          <a:prstGeom prst="ellipse">
            <a:avLst/>
          </a:prstGeom>
          <a:solidFill>
            <a:srgbClr val="F1CD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11512" y="1600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2026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(meta ajustada)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811512" y="248716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811512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59,7% del universo vigente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337560"/>
            <a:ext cx="54406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6DAE4"/>
            </a:solidFill>
            <a:prstDash val="solid"/>
          </a:ln>
          <a:effectLst>
            <a:outerShdw sx="100000" sy="100000" kx="0" ky="0" algn="bl" rotWithShape="0" blurRad="76200" dist="25400" dir="5400000">
              <a:srgbClr val="8290A8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35021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que continúa en 2027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" y="4023360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02336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Priorización criterio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77640" y="402336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apps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681728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F4F6F9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681728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 revisión para planificar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77640" y="468172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 apps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" y="5340096"/>
            <a:ext cx="4892040" cy="566928"/>
          </a:xfrm>
          <a:prstGeom prst="roundRect">
            <a:avLst>
              <a:gd name="adj" fmla="val 9677"/>
            </a:avLst>
          </a:prstGeom>
          <a:solidFill>
            <a:srgbClr val="011B5D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5340096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que pasa a 2027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977640" y="534009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1C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 apps (27,3% del universo)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3337560"/>
            <a:ext cx="5605272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6DAE4"/>
            </a:solidFill>
            <a:prstDash val="solid"/>
          </a:ln>
          <a:effectLst>
            <a:outerShdw sx="100000" sy="100000" kx="0" ky="0" algn="bl" rotWithShape="0" blurRad="76200" dist="25400" dir="5400000">
              <a:srgbClr val="8290A8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0" y="3502152"/>
            <a:ext cx="5056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1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 para cerrar el tema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19088" y="4005072"/>
            <a:ext cx="100584" cy="100584"/>
          </a:xfrm>
          <a:prstGeom prst="ellipse">
            <a:avLst/>
          </a:prstGeom>
          <a:solidFill>
            <a:srgbClr val="F1CD00"/>
          </a:solidFill>
          <a:ln/>
        </p:spPr>
      </p:sp>
      <p:sp>
        <p:nvSpPr>
          <p:cNvPr id="38" name="Text 36"/>
          <p:cNvSpPr/>
          <p:nvPr/>
        </p:nvSpPr>
        <p:spPr>
          <a:xfrm>
            <a:off x="6629400" y="3877056"/>
            <a:ext cx="47823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 la visión 2026 y fijar el universo oficial en 395 (no 232).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19088" y="4581144"/>
            <a:ext cx="100584" cy="100584"/>
          </a:xfrm>
          <a:prstGeom prst="ellipse">
            <a:avLst/>
          </a:prstGeom>
          <a:solidFill>
            <a:srgbClr val="F1CD00"/>
          </a:solidFill>
          <a:ln/>
        </p:spPr>
      </p:sp>
      <p:sp>
        <p:nvSpPr>
          <p:cNvPr id="40" name="Text 38"/>
          <p:cNvSpPr/>
          <p:nvPr/>
        </p:nvSpPr>
        <p:spPr>
          <a:xfrm>
            <a:off x="6629400" y="4453128"/>
            <a:ext cx="47823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Adoptar 236 apps (60%) como meta de cierre de año, con 108 apps en backlog hacia 2027.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19088" y="5157216"/>
            <a:ext cx="100584" cy="100584"/>
          </a:xfrm>
          <a:prstGeom prst="ellipse">
            <a:avLst/>
          </a:prstGeom>
          <a:solidFill>
            <a:srgbClr val="F1CD00"/>
          </a:solidFill>
          <a:ln/>
        </p:spPr>
      </p:sp>
      <p:sp>
        <p:nvSpPr>
          <p:cNvPr id="42" name="Text 40"/>
          <p:cNvSpPr/>
          <p:nvPr/>
        </p:nvSpPr>
        <p:spPr>
          <a:xfrm>
            <a:off x="6629400" y="5029200"/>
            <a:ext cx="47823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Reportar mensualmente la reconciliación CMDB vs. GEMA para que no vuelva a acumularse una brecha.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19088" y="5733288"/>
            <a:ext cx="100584" cy="100584"/>
          </a:xfrm>
          <a:prstGeom prst="ellipse">
            <a:avLst/>
          </a:prstGeom>
          <a:solidFill>
            <a:srgbClr val="F1CD00"/>
          </a:solidFill>
          <a:ln/>
        </p:spPr>
      </p:sp>
      <p:sp>
        <p:nvSpPr>
          <p:cNvPr id="44" name="Text 42"/>
          <p:cNvSpPr/>
          <p:nvPr/>
        </p:nvSpPr>
        <p:spPr>
          <a:xfrm>
            <a:off x="6629400" y="5605272"/>
            <a:ext cx="47823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Publicar un diccionario de indicadores de una página junto al dashboard.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152144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77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2026-08-18T05:33:08Z</dcterms:created>
  <dcterms:modified xsi:type="dcterms:W3CDTF">2026-08-18T05:33:08Z</dcterms:modified>
</cp:coreProperties>
</file>