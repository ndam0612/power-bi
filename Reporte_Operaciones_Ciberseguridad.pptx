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Finalizado</c:v>
                </c:pt>
              </c:strCache>
            </c:strRef>
          </c:tx>
          <c:spPr>
            <a:solidFill>
              <a:srgbClr val="3FB6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Plataformas</c:v>
                  </c:pt>
                  <c:pt idx="1">
                    <c:v>Identidades</c:v>
                  </c:pt>
                  <c:pt idx="2">
                    <c:v>Cloud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ejecución</c:v>
                </c:pt>
              </c:strCache>
            </c:strRef>
          </c:tx>
          <c:spPr>
            <a:solidFill>
              <a:srgbClr val="2E5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Plataformas</c:v>
                  </c:pt>
                  <c:pt idx="1">
                    <c:v>Identidades</c:v>
                  </c:pt>
                  <c:pt idx="2">
                    <c:v>Cloud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11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Iniciado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Plataformas</c:v>
                  </c:pt>
                  <c:pt idx="1">
                    <c:v>Identidades</c:v>
                  </c:pt>
                  <c:pt idx="2">
                    <c:v>Cloud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 iniciado</c:v>
                </c:pt>
              </c:strCache>
            </c:strRef>
          </c:tx>
          <c:spPr>
            <a:solidFill>
              <a:srgbClr val="C7CE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Plataformas</c:v>
                  </c:pt>
                  <c:pt idx="1">
                    <c:v>Identidades</c:v>
                  </c:pt>
                  <c:pt idx="2">
                    <c:v>Cloud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B68B"/>
              </a:solidFill>
              <a:effectLst/>
            </c:spPr>
          </c:dPt>
          <c:dPt>
            <c:idx val="1"/>
            <c:bubble3D val="0"/>
            <c:spPr>
              <a:solidFill>
                <a:srgbClr val="2E5DA6"/>
              </a:solidFill>
              <a:effectLst/>
            </c:spPr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bubble3D val="0"/>
            <c:spPr>
              <a:solidFill>
                <a:srgbClr val="C7CEDC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Finalizado</c:v>
                </c:pt>
                <c:pt idx="1">
                  <c:v>En ejecución</c:v>
                </c:pt>
                <c:pt idx="2">
                  <c:v>Iniciado</c:v>
                </c:pt>
                <c:pt idx="3">
                  <c:v>No iniciado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</c:v>
                </c:pt>
                <c:pt idx="1">
                  <c:v>21</c:v>
                </c:pt>
                <c:pt idx="2">
                  <c:v>3</c:v>
                </c:pt>
                <c:pt idx="3">
                  <c:v>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Plataformas</c:v>
                </c:pt>
              </c:strCache>
            </c:strRef>
          </c:tx>
          <c:spPr>
            <a:solidFill>
              <a:srgbClr val="2E5DA6"/>
            </a:solidFill>
            <a:ln w="25400" cap="flat">
              <a:solidFill>
                <a:srgbClr val="2E5DA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E5DA6"/>
              </a:solidFill>
              <a:ln w="9525" cap="flat">
                <a:solidFill>
                  <a:srgbClr val="2E5D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Avance</c:v>
                  </c:pt>
                  <c:pt idx="1">
                    <c:v>Cumplim. plazos</c:v>
                  </c:pt>
                  <c:pt idx="2">
                    <c:v>Bajo riesgo</c:v>
                  </c:pt>
                  <c:pt idx="3">
                    <c:v>Volumen carga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69.6</c:v>
                </c:pt>
                <c:pt idx="1">
                  <c:v>81</c:v>
                </c:pt>
                <c:pt idx="2">
                  <c:v>83.8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Identidades</c:v>
                </c:pt>
              </c:strCache>
            </c:strRef>
          </c:tx>
          <c:spPr>
            <a:solidFill>
              <a:srgbClr val="F2A93B"/>
            </a:solidFill>
            <a:ln w="254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Avance</c:v>
                  </c:pt>
                  <c:pt idx="1">
                    <c:v>Cumplim. plazos</c:v>
                  </c:pt>
                  <c:pt idx="2">
                    <c:v>Bajo riesgo</c:v>
                  </c:pt>
                  <c:pt idx="3">
                    <c:v>Volumen carga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64.8</c:v>
                </c:pt>
                <c:pt idx="1">
                  <c:v>71.4</c:v>
                </c:pt>
                <c:pt idx="2">
                  <c:v>90.5</c:v>
                </c:pt>
                <c:pt idx="3">
                  <c:v>56.8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Cloud</c:v>
                </c:pt>
              </c:strCache>
            </c:strRef>
          </c:tx>
          <c:spPr>
            <a:solidFill>
              <a:srgbClr val="17C3B2"/>
            </a:solidFill>
            <a:ln w="25400" cap="flat">
              <a:solidFill>
                <a:srgbClr val="17C3B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7C3B2"/>
              </a:solidFill>
              <a:ln w="9525" cap="flat">
                <a:solidFill>
                  <a:srgbClr val="17C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Avance</c:v>
                  </c:pt>
                  <c:pt idx="1">
                    <c:v>Cumplim. plazos</c:v>
                  </c:pt>
                  <c:pt idx="2">
                    <c:v>Bajo riesgo</c:v>
                  </c:pt>
                  <c:pt idx="3">
                    <c:v>Volumen carga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68.3</c:v>
                </c:pt>
                <c:pt idx="1">
                  <c:v>100</c:v>
                </c:pt>
                <c:pt idx="2">
                  <c:v>100</c:v>
                </c:pt>
                <c:pt idx="3">
                  <c:v>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8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73152" cy="7315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548640"/>
            <a:ext cx="73152" cy="7315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48640"/>
            <a:ext cx="73152" cy="7315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051560"/>
            <a:ext cx="73152" cy="7315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051560"/>
            <a:ext cx="73152" cy="7315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051560"/>
            <a:ext cx="73152" cy="7315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 · CORTE AL 02 DE SEPTIEMBRE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Operaciones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Ciberseguridad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 ·  Plataformas  ·  Identidades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2926080" cy="0"/>
          </a:xfrm>
          <a:prstGeom prst="line">
            <a:avLst/>
          </a:prstGeom>
          <a:noFill/>
          <a:ln w="25400">
            <a:solidFill>
              <a:srgbClr val="17C3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  </a:t>
            </a:r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 registrados   </a:t>
            </a:r>
            <a:pPr indent="0" marL="0">
              <a:buNone/>
            </a:pPr>
            <a:r>
              <a:rPr lang="en-US" sz="2000" b="1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75/100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 global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de Operaciones de Ciberseguridad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va el portafolio hoy?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 — Bueno, con puntos de atención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2651760" cy="109728"/>
          </a:xfrm>
          <a:prstGeom prst="rect">
            <a:avLst/>
          </a:prstGeom>
          <a:solidFill>
            <a:srgbClr val="1B3A63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3063240"/>
            <a:ext cx="1988820" cy="10972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0.5×Avance + 0.3×ICP + 0.2×(100−%Riesgo)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12344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40480" y="132588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67.9%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874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del portafolio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2276856"/>
            <a:ext cx="457200" cy="41148"/>
          </a:xfrm>
          <a:prstGeom prst="rect">
            <a:avLst/>
          </a:prstGeom>
          <a:solidFill>
            <a:srgbClr val="2E5DA6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0" y="12344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0" y="132588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874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plazos (ICP)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276856"/>
            <a:ext cx="457200" cy="41148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12344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46720" y="132588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18745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 vencidos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2276856"/>
            <a:ext cx="457200" cy="41148"/>
          </a:xfrm>
          <a:prstGeom prst="rect">
            <a:avLst/>
          </a:prstGeom>
          <a:solidFill>
            <a:srgbClr val="E4574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0112" y="123444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131552" y="132588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0131552" y="18745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a vencer (≤45d)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31552" y="2276856"/>
            <a:ext cx="457200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9040" y="24688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840480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3108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activas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0" y="3511296"/>
            <a:ext cx="457200" cy="411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Shape 29"/>
          <p:cNvSpPr/>
          <p:nvPr/>
        </p:nvSpPr>
        <p:spPr>
          <a:xfrm>
            <a:off x="5852160" y="24688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943600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3108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 registrados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0" y="3511296"/>
            <a:ext cx="457200" cy="411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24688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046720" y="256032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31089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finalizadas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46720" y="3511296"/>
            <a:ext cx="457200" cy="41148"/>
          </a:xfrm>
          <a:prstGeom prst="rect">
            <a:avLst/>
          </a:prstGeom>
          <a:solidFill>
            <a:srgbClr val="3FB68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40112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10131552" y="256032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10131552" y="31089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en riesgo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131552" y="3511296"/>
            <a:ext cx="457200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3794760"/>
            <a:ext cx="112014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3794760"/>
            <a:ext cx="54864" cy="23317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39776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para el gerente: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portafolio avanza al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67.9%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un Health Score de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75/100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D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concentra el 61% del trabajo total (37 de 61 hitos) y también la mayor exposición a riesgo, con 16.2% de sus hitos vencidos o por vencer.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67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avanza de forma más pareja, pero su cumplimiento de plazos (71.4%) es el más bajo de las tres áreas: cuando se atrasa, tiende a no recuperarse a tiempo.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muestra el mejor Health Score (84.2), aunque con una sola iniciativa activa — aún no es una muestra representativa del dominio.</a:t>
            </a:r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recomendada: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esta semana los 6 hitos vencidos (5 en Plataformas/Identidades) y decidir si se reprograman o se escalan como bloqueo.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calculan los indicadores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28016" cy="128016"/>
          </a:xfrm>
          <a:prstGeom prst="ellipse">
            <a:avLst/>
          </a:prstGeom>
          <a:solidFill>
            <a:srgbClr val="2E5D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4904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Avance del portafolio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47672"/>
            <a:ext cx="498348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C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 = Σ(avance % por hito) / N° de hitos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simple del avance declarado en cada hito del POA. Se aplica igual a nivel global, por área y por iniciativa.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554480"/>
            <a:ext cx="128016" cy="128016"/>
          </a:xfrm>
          <a:prstGeom prst="ellipse">
            <a:avLst/>
          </a:prstGeom>
          <a:solidFill>
            <a:srgbClr val="0E8F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14904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Cumplimiento de Plazos (ICP)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947672"/>
            <a:ext cx="498348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194767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C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ICP = (Hitos cerrados a tiempo / Hitos ya vencidos) × 100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5603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hitos cuya fecha fin ya pasó, qué % se cerró efectivamente como Finalizado. Sin hitos vencidos, se asume ICP = 100.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776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39136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hitos en riesgo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70832"/>
            <a:ext cx="498348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3708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C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%Riesgo = (Vencidos + Próx. a vencer ≤45d) / Total hitos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9834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hito vencido superó su fecha fin sin cerrarse. Uno 'próximo a vencer' vence en 45 días o menos y sigue abierto.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977640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39136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 (índice compuesto)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4370832"/>
            <a:ext cx="4983480" cy="50292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3708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C3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= 0.5×Avance + 0.3×ICP + 0.2×(100−%Riesgo)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9834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 avance, puntualidad y exposición a riesgo en un solo número. &gt;80 sólido · 65-80 aceptable · &lt;65 requiere intervención.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global del portafolio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hitos por estado y área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78040" y="1234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 global (61 hitos)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178040" y="155448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178040" y="4617720"/>
            <a:ext cx="44805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60920" y="47091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FB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hitos ya están Finalizados.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E5D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En ejecución — es el volumen a monitorear de cerca.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por área vs. meta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real vs. meta (100%)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773936"/>
            <a:ext cx="4754880" cy="256032"/>
          </a:xfrm>
          <a:prstGeom prst="roundRect">
            <a:avLst>
              <a:gd name="adj" fmla="val 14286"/>
            </a:avLst>
          </a:prstGeom>
          <a:solidFill>
            <a:srgbClr val="EAEEF6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773936"/>
            <a:ext cx="3309396" cy="256032"/>
          </a:xfrm>
          <a:prstGeom prst="roundRect">
            <a:avLst>
              <a:gd name="adj" fmla="val 14286"/>
            </a:avLst>
          </a:prstGeom>
          <a:solidFill>
            <a:srgbClr val="2E5DA6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0" y="1709928"/>
            <a:ext cx="0" cy="384048"/>
          </a:xfrm>
          <a:prstGeom prst="line">
            <a:avLst/>
          </a:prstGeom>
          <a:noFill/>
          <a:ln w="19050">
            <a:solidFill>
              <a:srgbClr val="0B1F3A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903720" y="1737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iniciativas · 37 hitos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459736"/>
            <a:ext cx="4754880" cy="256032"/>
          </a:xfrm>
          <a:prstGeom prst="roundRect">
            <a:avLst>
              <a:gd name="adj" fmla="val 14286"/>
            </a:avLst>
          </a:prstGeom>
          <a:solidFill>
            <a:srgbClr val="EAE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2459736"/>
            <a:ext cx="3081162" cy="256032"/>
          </a:xfrm>
          <a:prstGeom prst="roundRect">
            <a:avLst>
              <a:gd name="adj" fmla="val 14286"/>
            </a:avLst>
          </a:prstGeom>
          <a:solidFill>
            <a:srgbClr val="F2A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2395728"/>
            <a:ext cx="0" cy="384048"/>
          </a:xfrm>
          <a:prstGeom prst="line">
            <a:avLst/>
          </a:prstGeom>
          <a:noFill/>
          <a:ln w="19050">
            <a:solidFill>
              <a:srgbClr val="0B1F3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903720" y="2423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iniciativas · 21 hitos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108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3145536"/>
            <a:ext cx="4754880" cy="256032"/>
          </a:xfrm>
          <a:prstGeom prst="roundRect">
            <a:avLst>
              <a:gd name="adj" fmla="val 14286"/>
            </a:avLst>
          </a:prstGeom>
          <a:solidFill>
            <a:srgbClr val="EAEE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3145536"/>
            <a:ext cx="3247583" cy="256032"/>
          </a:xfrm>
          <a:prstGeom prst="roundRect">
            <a:avLst>
              <a:gd name="adj" fmla="val 14286"/>
            </a:avLst>
          </a:prstGeom>
          <a:solidFill>
            <a:srgbClr val="17C3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3081528"/>
            <a:ext cx="0" cy="384048"/>
          </a:xfrm>
          <a:prstGeom prst="line">
            <a:avLst/>
          </a:prstGeom>
          <a:noFill/>
          <a:ln w="19050">
            <a:solidFill>
              <a:srgbClr val="0B1F3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903720" y="3108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68.3%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iniciativa · 3 hitos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punteada = meta 100% de avance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multidimensional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4343400"/>
          <a:ext cx="51206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263640" y="41605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9224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DEL COMPARATIVO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47091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lidera en volumen y cumplimiento de plazos (81%), pero es también donde se concentra el mayor número absoluto de hitos en riesgo.</a:t>
            </a:r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tiene el ICP más bajo (71.4%): sus atrasos tienden a persistir más tiempo antes de resolverse.</a:t>
            </a:r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puntúa mejor en todo, pero con una sola iniciativa activa el dato aún no es concluyente.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iniciativas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barra: inicio → hito con fecha más lejana. Relleno claro = % de avance real. Línea roja = hoy (02-sep-2026).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OP-CL-01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9815408" y="1449324"/>
            <a:ext cx="1888912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15408" y="1449324"/>
            <a:ext cx="1290127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669694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OP-11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017520" y="1701698"/>
            <a:ext cx="5666737" cy="170078"/>
          </a:xfrm>
          <a:prstGeom prst="roundRect">
            <a:avLst>
              <a:gd name="adj" fmla="val 10753"/>
            </a:avLst>
          </a:prstGeom>
          <a:solidFill>
            <a:srgbClr val="3FB68B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701698"/>
            <a:ext cx="5666737" cy="170078"/>
          </a:xfrm>
          <a:prstGeom prst="roundRect">
            <a:avLst>
              <a:gd name="adj" fmla="val 10753"/>
            </a:avLst>
          </a:prstGeom>
          <a:solidFill>
            <a:srgbClr val="3FB6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922069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OP-ID-03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706855" y="1954073"/>
            <a:ext cx="3997465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706855" y="1954073"/>
            <a:ext cx="1519037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2174443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OP-ID-06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06855" y="2206447"/>
            <a:ext cx="3997465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06855" y="2206447"/>
            <a:ext cx="2798226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426818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OP-ID-10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06855" y="2458822"/>
            <a:ext cx="3997465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706855" y="2458822"/>
            <a:ext cx="2158631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2679192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OP-ID-15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17837" y="2711196"/>
            <a:ext cx="3975501" cy="170078"/>
          </a:xfrm>
          <a:prstGeom prst="roundRect">
            <a:avLst>
              <a:gd name="adj" fmla="val 10753"/>
            </a:avLst>
          </a:prstGeom>
          <a:solidFill>
            <a:srgbClr val="E4574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17837" y="2711196"/>
            <a:ext cx="3446760" cy="170078"/>
          </a:xfrm>
          <a:prstGeom prst="roundRect">
            <a:avLst>
              <a:gd name="adj" fmla="val 10753"/>
            </a:avLst>
          </a:prstGeom>
          <a:solidFill>
            <a:srgbClr val="E457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2931566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OP-07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356696" y="2963570"/>
            <a:ext cx="3657022" cy="170078"/>
          </a:xfrm>
          <a:prstGeom prst="roundRect">
            <a:avLst>
              <a:gd name="adj" fmla="val 10753"/>
            </a:avLst>
          </a:prstGeom>
          <a:solidFill>
            <a:srgbClr val="3FB68B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56696" y="2963570"/>
            <a:ext cx="3657022" cy="170078"/>
          </a:xfrm>
          <a:prstGeom prst="roundRect">
            <a:avLst>
              <a:gd name="adj" fmla="val 10753"/>
            </a:avLst>
          </a:prstGeom>
          <a:solidFill>
            <a:srgbClr val="3FB6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3183941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OP-PL-04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970424" y="3215945"/>
            <a:ext cx="3733896" cy="170078"/>
          </a:xfrm>
          <a:prstGeom prst="roundRect">
            <a:avLst>
              <a:gd name="adj" fmla="val 10753"/>
            </a:avLst>
          </a:prstGeom>
          <a:solidFill>
            <a:srgbClr val="F2A93B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970424" y="3215945"/>
            <a:ext cx="2176862" cy="170078"/>
          </a:xfrm>
          <a:prstGeom prst="roundRect">
            <a:avLst>
              <a:gd name="adj" fmla="val 10753"/>
            </a:avLst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3436315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OP-PL-01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047298" y="3468319"/>
            <a:ext cx="1647307" cy="170078"/>
          </a:xfrm>
          <a:prstGeom prst="roundRect">
            <a:avLst>
              <a:gd name="adj" fmla="val 10753"/>
            </a:avLst>
          </a:prstGeom>
          <a:solidFill>
            <a:srgbClr val="3FB68B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47298" y="3468319"/>
            <a:ext cx="1647307" cy="170078"/>
          </a:xfrm>
          <a:prstGeom prst="roundRect">
            <a:avLst>
              <a:gd name="adj" fmla="val 10753"/>
            </a:avLst>
          </a:prstGeom>
          <a:solidFill>
            <a:srgbClr val="3FB68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2920" y="3688690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OP-PL-14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354795" y="3720694"/>
            <a:ext cx="3349525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54795" y="3720694"/>
            <a:ext cx="2234133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2920" y="3941064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OP-PL-17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8684257" y="3973068"/>
            <a:ext cx="2339176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684257" y="3973068"/>
            <a:ext cx="1637423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02920" y="4193438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OP-PL-12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695239" y="4225442"/>
            <a:ext cx="3009081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695239" y="4225442"/>
            <a:ext cx="2007057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02920" y="4445813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OP-PL-13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695239" y="4477817"/>
            <a:ext cx="1328828" cy="170078"/>
          </a:xfrm>
          <a:prstGeom prst="roundRect">
            <a:avLst>
              <a:gd name="adj" fmla="val 10753"/>
            </a:avLst>
          </a:prstGeom>
          <a:solidFill>
            <a:srgbClr val="3FB68B">
              <a:alpha val="8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95239" y="4477817"/>
            <a:ext cx="1328828" cy="170078"/>
          </a:xfrm>
          <a:prstGeom prst="roundRect">
            <a:avLst>
              <a:gd name="adj" fmla="val 10753"/>
            </a:avLst>
          </a:prstGeom>
          <a:solidFill>
            <a:srgbClr val="3FB68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2920" y="4698187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OP-PL-18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695239" y="4730191"/>
            <a:ext cx="3009081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95239" y="4730191"/>
            <a:ext cx="2106357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2920" y="4950562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OP-PL-19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695239" y="4982566"/>
            <a:ext cx="3009081" cy="170078"/>
          </a:xfrm>
          <a:prstGeom prst="roundRect">
            <a:avLst>
              <a:gd name="adj" fmla="val 10753"/>
            </a:avLst>
          </a:prstGeom>
          <a:solidFill>
            <a:srgbClr val="E4574C">
              <a:alpha val="8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695239" y="4982566"/>
            <a:ext cx="1992012" cy="170078"/>
          </a:xfrm>
          <a:prstGeom prst="roundRect">
            <a:avLst>
              <a:gd name="adj" fmla="val 10753"/>
            </a:avLst>
          </a:prstGeom>
          <a:solidFill>
            <a:srgbClr val="E4574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02920" y="5202936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OP-PL-20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9024700" y="5234940"/>
            <a:ext cx="2668638" cy="170078"/>
          </a:xfrm>
          <a:prstGeom prst="roundRect">
            <a:avLst>
              <a:gd name="adj" fmla="val 10753"/>
            </a:avLst>
          </a:prstGeom>
          <a:solidFill>
            <a:srgbClr val="E4574C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24700" y="5234940"/>
            <a:ext cx="1779981" cy="170078"/>
          </a:xfrm>
          <a:prstGeom prst="roundRect">
            <a:avLst>
              <a:gd name="adj" fmla="val 10753"/>
            </a:avLst>
          </a:prstGeom>
          <a:solidFill>
            <a:srgbClr val="E4574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02920" y="5455310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OP-PL-02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9518892" y="5487314"/>
            <a:ext cx="2185428" cy="170078"/>
          </a:xfrm>
          <a:prstGeom prst="roundRect">
            <a:avLst>
              <a:gd name="adj" fmla="val 10753"/>
            </a:avLst>
          </a:prstGeom>
          <a:solidFill>
            <a:srgbClr val="2E5DA6">
              <a:alpha val="8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518892" y="5487314"/>
            <a:ext cx="727747" cy="170078"/>
          </a:xfrm>
          <a:prstGeom prst="roundRect">
            <a:avLst>
              <a:gd name="adj" fmla="val 10753"/>
            </a:avLst>
          </a:prstGeom>
          <a:solidFill>
            <a:srgbClr val="2E5DA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02920" y="5707685"/>
            <a:ext cx="2423160" cy="252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OP-PL-06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9518892" y="5739689"/>
            <a:ext cx="2185428" cy="170078"/>
          </a:xfrm>
          <a:prstGeom prst="roundRect">
            <a:avLst>
              <a:gd name="adj" fmla="val 10753"/>
            </a:avLst>
          </a:prstGeom>
          <a:solidFill>
            <a:srgbClr val="E4574C">
              <a:alpha val="8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518892" y="5739689"/>
            <a:ext cx="847946" cy="170078"/>
          </a:xfrm>
          <a:prstGeom prst="roundRect">
            <a:avLst>
              <a:gd name="adj" fmla="val 10753"/>
            </a:avLst>
          </a:prstGeom>
          <a:solidFill>
            <a:srgbClr val="E4574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386474" y="1325880"/>
            <a:ext cx="0" cy="4679899"/>
          </a:xfrm>
          <a:prstGeom prst="line">
            <a:avLst/>
          </a:prstGeom>
          <a:noFill/>
          <a:ln w="15875">
            <a:solidFill>
              <a:srgbClr val="E457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17520" y="6115507"/>
            <a:ext cx="128016" cy="128016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200400" y="6060643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Finalizado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434840" y="6115507"/>
            <a:ext cx="128016" cy="128016"/>
          </a:xfrm>
          <a:prstGeom prst="ellipse">
            <a:avLst/>
          </a:prstGeom>
          <a:solidFill>
            <a:srgbClr val="2E5DA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617720" y="6060643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852160" y="6115507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035040" y="6060643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riesgo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69480" y="6115507"/>
            <a:ext cx="128016" cy="128016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452360" y="6060643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778240" y="6060643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Hoy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riesgo del portafolio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515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X: % avance. Eje Y: días para el vencimiento del hito más lejano (negativo = vencido). Tamaño = cantidad de hitos.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0" cy="393192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760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67712" y="1783080"/>
            <a:ext cx="0" cy="393192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39112" y="5760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29584" y="1783080"/>
            <a:ext cx="0" cy="393192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00984" y="5760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91456" y="1783080"/>
            <a:ext cx="0" cy="393192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2856" y="5760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53328" y="1783080"/>
            <a:ext cx="0" cy="393192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5760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0" cy="393192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5760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05840" y="5579417"/>
            <a:ext cx="6309360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5487977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05840" y="4901499"/>
            <a:ext cx="6309360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81005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05840" y="4223582"/>
            <a:ext cx="6309360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13214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05840" y="3545665"/>
            <a:ext cx="6309360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345422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05840" y="2867748"/>
            <a:ext cx="6309360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27763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05840" y="2189830"/>
            <a:ext cx="6309360" cy="0"/>
          </a:xfrm>
          <a:prstGeom prst="line">
            <a:avLst/>
          </a:prstGeom>
          <a:noFill/>
          <a:ln w="9525">
            <a:solidFill>
              <a:srgbClr val="EEF1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209839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05840" y="3545665"/>
            <a:ext cx="6309360" cy="0"/>
          </a:xfrm>
          <a:prstGeom prst="line">
            <a:avLst/>
          </a:prstGeom>
          <a:noFill/>
          <a:ln w="15875">
            <a:solidFill>
              <a:srgbClr val="E4574C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126480" y="3344497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(0 días)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611880" y="59710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Avance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1440" y="1508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para vencimiento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26436" y="1829967"/>
            <a:ext cx="177394" cy="177394"/>
          </a:xfrm>
          <a:prstGeom prst="ellipse">
            <a:avLst/>
          </a:prstGeom>
          <a:solidFill>
            <a:srgbClr val="17C3B2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52106" y="5584115"/>
            <a:ext cx="126187" cy="126187"/>
          </a:xfrm>
          <a:prstGeom prst="ellipse">
            <a:avLst/>
          </a:prstGeom>
          <a:solidFill>
            <a:srgbClr val="F2A93B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89097" y="1804363"/>
            <a:ext cx="228600" cy="228600"/>
          </a:xfrm>
          <a:prstGeom prst="ellipse">
            <a:avLst/>
          </a:prstGeom>
          <a:solidFill>
            <a:srgbClr val="F2A93B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0894" y="1817165"/>
            <a:ext cx="202997" cy="202997"/>
          </a:xfrm>
          <a:prstGeom prst="ellipse">
            <a:avLst/>
          </a:prstGeom>
          <a:solidFill>
            <a:srgbClr val="F2A93B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8594" y="1804363"/>
            <a:ext cx="228600" cy="228600"/>
          </a:xfrm>
          <a:prstGeom prst="ellipse">
            <a:avLst/>
          </a:prstGeom>
          <a:solidFill>
            <a:srgbClr val="F2A93B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8954" y="1805120"/>
            <a:ext cx="254203" cy="254203"/>
          </a:xfrm>
          <a:prstGeom prst="ellipse">
            <a:avLst/>
          </a:prstGeom>
          <a:solidFill>
            <a:srgbClr val="F2A93B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13702" y="5138960"/>
            <a:ext cx="202997" cy="202997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5500" y="1829967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6503" y="4311144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5486" y="1829967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33695" y="2670584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5486" y="1829967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6503" y="3904393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59298" y="1855570"/>
            <a:ext cx="126187" cy="126187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81138" y="1817165"/>
            <a:ext cx="202997" cy="202997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5486" y="1843525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8160" y="1829967"/>
            <a:ext cx="177394" cy="177394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52373" y="1817165"/>
            <a:ext cx="202997" cy="202997"/>
          </a:xfrm>
          <a:prstGeom prst="ellipse">
            <a:avLst/>
          </a:prstGeom>
          <a:solidFill>
            <a:srgbClr val="2E5DA6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6217920"/>
            <a:ext cx="109728" cy="109728"/>
          </a:xfrm>
          <a:prstGeom prst="ellipse">
            <a:avLst/>
          </a:prstGeom>
          <a:solidFill>
            <a:srgbClr val="2E5DA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188720" y="61630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0" y="621792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926080" y="61630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480560" y="6217920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663440" y="61630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001000" y="150876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183880" y="16733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MAYOR ATENCIÓN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183880" y="19202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bajo + poco tiempo restante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183880" y="2368296"/>
            <a:ext cx="91440" cy="9144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412480" y="22768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OP-PL-02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8183880" y="255117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 avance · vence en 120d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183880" y="3145536"/>
            <a:ext cx="91440" cy="9144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412480" y="30540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OP-PL-06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183880" y="33284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38.8% avance · con hito ya vencido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83880" y="3922776"/>
            <a:ext cx="91440" cy="9144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412480" y="38313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OP-ID-03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8183880" y="410565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38.0% avance · vence en 120d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183880" y="4700016"/>
            <a:ext cx="91440" cy="9144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412480" y="4608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OP-PL-04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8183880" y="488289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 avance · en zona de riesgo (≤45d)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83880" y="5486400"/>
            <a:ext cx="3337560" cy="0"/>
          </a:xfrm>
          <a:prstGeom prst="line">
            <a:avLst/>
          </a:prstGeom>
          <a:noFill/>
          <a:ln w="12700">
            <a:solidFill>
              <a:srgbClr val="E4E9F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183880" y="56692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 priorizar estas 4 iniciativas en la próxima revisión de sprint/comité.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ESTRATÉGICA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vs. plan y concentración de cierres en Q4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8755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X: % de hitos pendientes de una iniciativa cuyo cierre cae en Q4 (oct-dic 2026). Eje Y: diferencia entre el avance esperado por cronograma y el avance real (p.p.) — positivo = atrasado, negativo = adelantado. Tamaño = cantidad de hitos. Sólo iniciativas activas (excluye las ya finalizadas al 100%).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51560" y="1874520"/>
            <a:ext cx="3680460" cy="1988820"/>
          </a:xfrm>
          <a:prstGeom prst="rect">
            <a:avLst/>
          </a:prstGeom>
          <a:solidFill>
            <a:srgbClr val="FDF3E3"/>
          </a:solidFill>
          <a:ln/>
        </p:spPr>
      </p:sp>
      <p:sp>
        <p:nvSpPr>
          <p:cNvPr id="6" name="Shape 4"/>
          <p:cNvSpPr/>
          <p:nvPr/>
        </p:nvSpPr>
        <p:spPr>
          <a:xfrm>
            <a:off x="4732020" y="1874520"/>
            <a:ext cx="3680460" cy="1988820"/>
          </a:xfrm>
          <a:prstGeom prst="rect">
            <a:avLst/>
          </a:prstGeom>
          <a:solidFill>
            <a:srgbClr val="FBEAE8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3863340"/>
            <a:ext cx="3680460" cy="1988820"/>
          </a:xfrm>
          <a:prstGeom prst="rect">
            <a:avLst/>
          </a:prstGeom>
          <a:solidFill>
            <a:srgbClr val="E7F5EF"/>
          </a:solidFill>
          <a:ln/>
        </p:spPr>
      </p:sp>
      <p:sp>
        <p:nvSpPr>
          <p:cNvPr id="8" name="Shape 6"/>
          <p:cNvSpPr/>
          <p:nvPr/>
        </p:nvSpPr>
        <p:spPr>
          <a:xfrm>
            <a:off x="4732020" y="3863340"/>
            <a:ext cx="3680460" cy="1988820"/>
          </a:xfrm>
          <a:prstGeom prst="rect">
            <a:avLst/>
          </a:prstGeom>
          <a:solidFill>
            <a:srgbClr val="FDF3E3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874520"/>
            <a:ext cx="7360920" cy="3977640"/>
          </a:xfrm>
          <a:prstGeom prst="rect">
            <a:avLst/>
          </a:prstGeom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2020" y="1874520"/>
            <a:ext cx="0" cy="3977640"/>
          </a:xfrm>
          <a:prstGeom prst="line">
            <a:avLst/>
          </a:prstGeom>
          <a:noFill/>
          <a:ln w="12700">
            <a:solidFill>
              <a:srgbClr val="0B1F3A">
                <a:alpha val="60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51560" y="3863340"/>
            <a:ext cx="7360920" cy="0"/>
          </a:xfrm>
          <a:prstGeom prst="line">
            <a:avLst/>
          </a:prstGeom>
          <a:noFill/>
          <a:ln w="12700">
            <a:solidFill>
              <a:srgbClr val="0B1F3A">
                <a:alpha val="60000"/>
              </a:srgbClr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143000" y="1929384"/>
            <a:ext cx="3497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7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ATRASADO VS. PLAN, SIN PRESIÓN DE CIERRE EN Q4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23460" y="1929384"/>
            <a:ext cx="34975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ALTO: ATRASO Y CIERRE CONCENTRADO EN Q4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5577840"/>
            <a:ext cx="3497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8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ALINEADA AL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823460" y="5468112"/>
            <a:ext cx="3497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7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PLAN, PERO CONCENTRADO EN Q4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9070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617470" y="59070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457700" y="59070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297930" y="59070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59070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3974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5582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719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8879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03220" y="61081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hitos pendientes con cierre en Q4 (oct-dic 2026)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37160" y="15453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vs.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(p.p.)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45470" y="3356915"/>
            <a:ext cx="314554" cy="314554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45546" y="368061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OP-ID-15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1074420" y="3628492"/>
            <a:ext cx="248717" cy="248717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1578" y="388635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OP-PL-04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1589684" y="3429610"/>
            <a:ext cx="248717" cy="248717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56843" y="368747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OP-PL-14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288122" y="5422849"/>
            <a:ext cx="248717" cy="248717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0" y="5267401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OP-CL-01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8277149" y="3860597"/>
            <a:ext cx="270662" cy="270662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0" y="4140403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OP-ID-06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7625639" y="4057193"/>
            <a:ext cx="248717" cy="248717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92797" y="431505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OP-PL-02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963156" y="4194200"/>
            <a:ext cx="248717" cy="248717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30314" y="4452061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OP-PL-12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322619" y="4370832"/>
            <a:ext cx="204826" cy="204826"/>
          </a:xfrm>
          <a:prstGeom prst="ellipse">
            <a:avLst/>
          </a:prstGeom>
          <a:solidFill>
            <a:srgbClr val="F2A93B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67832" y="458480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OP-PL-18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8266176" y="2435352"/>
            <a:ext cx="292608" cy="292608"/>
          </a:xfrm>
          <a:prstGeom prst="ellipse">
            <a:avLst/>
          </a:prstGeom>
          <a:solidFill>
            <a:srgbClr val="E4574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55280" y="273710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OP-ID-03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456475" y="2850794"/>
            <a:ext cx="292608" cy="292608"/>
          </a:xfrm>
          <a:prstGeom prst="ellipse">
            <a:avLst/>
          </a:prstGeom>
          <a:solidFill>
            <a:srgbClr val="E4574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45579" y="315254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OP-ID-10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155034" y="3520288"/>
            <a:ext cx="270662" cy="270662"/>
          </a:xfrm>
          <a:prstGeom prst="ellipse">
            <a:avLst/>
          </a:prstGeom>
          <a:solidFill>
            <a:srgbClr val="E4574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833165" y="380009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OP-PL-06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8288122" y="3385414"/>
            <a:ext cx="248717" cy="248717"/>
          </a:xfrm>
          <a:prstGeom prst="ellipse">
            <a:avLst/>
          </a:prstGeom>
          <a:solidFill>
            <a:srgbClr val="E4574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55280" y="364327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OP-PL-17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5825962" y="3365602"/>
            <a:ext cx="270662" cy="270662"/>
          </a:xfrm>
          <a:prstGeom prst="ellipse">
            <a:avLst/>
          </a:prstGeom>
          <a:solidFill>
            <a:srgbClr val="E4574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04094" y="3645408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OP-PL-19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049317" y="3230728"/>
            <a:ext cx="248717" cy="248717"/>
          </a:xfrm>
          <a:prstGeom prst="ellipse">
            <a:avLst/>
          </a:prstGeom>
          <a:solidFill>
            <a:srgbClr val="E4574C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16475" y="3488588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OP-PL-20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6309360"/>
            <a:ext cx="7360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algunas posiciones horizontales se separaron levemente para legibilidad cuando comparten el mismo % — el valor exacto de cada iniciativa está en la tabla de detalle.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732520" y="1874520"/>
            <a:ext cx="2926080" cy="4343400"/>
          </a:xfrm>
          <a:prstGeom prst="roundRect">
            <a:avLst>
              <a:gd name="adj" fmla="val 2500"/>
            </a:avLst>
          </a:prstGeom>
          <a:solidFill>
            <a:srgbClr val="0B1F3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961120" y="2029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CLAVE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8961120" y="2331720"/>
            <a:ext cx="2468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activas están hoy "alineadas al plan" sin presión de cierre.</a:t>
            </a:r>
            <a:pPr indent="0" marL="0">
              <a:lnSpc>
                <a:spcPct val="120000"/>
              </a:lnSpc>
              <a:buNone/>
            </a:pP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 riesgo alto: 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OP-ID-03, OP-ID-10, OP-PL-06, OP-PL-17, OP-PL-19, OP-PL-20.</a:t>
            </a:r>
            <a:pPr indent="0" marL="0">
              <a:lnSpc>
                <a:spcPct val="120000"/>
              </a:lnSpc>
              <a:buNone/>
            </a:pP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dentro de plan, concentradas en Q4: 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OP-CL-01, OP-ID-06, OP-PL-02, OP-PL-12, OP-PL-18.</a:t>
            </a:r>
            <a:pPr indent="0" marL="0">
              <a:lnSpc>
                <a:spcPct val="120000"/>
              </a:lnSpc>
              <a:buNone/>
            </a:pP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atrasadas, con holgura: 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OP-ID-15, OP-PL-04, OP-PL-14.</a:t>
            </a:r>
            <a:endParaRPr lang="en-US" sz="30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 que requieren decisión esta semana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3931920"/>
                <a:gridCol w="1280160"/>
                <a:gridCol w="10058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Iniciativa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 fin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OP-ID-15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usuarios genéricos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7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OP-PL-06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HITO 1: Ingesta y validación de fuentes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7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OP-PL-19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 ejecutivo pruebas de contingencia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7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OP-PL-20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Hito 2: Modelo medido y ajustado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57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OP-PL-04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Migración Detect ID en ambiente 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Vence en 28 días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OP-PL-06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 automático de cobertura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Vence en 28 días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4632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983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de calidad de datos: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adicionalmente, OP-07 y OP-ID-03 tienen hitos con 100% de avance pero sin marcarse como "Finalizado" en el sistema — son candidatos a cierre formal, no atrasos reales. Se recomienda depurar esto en el próximo corte.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7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para el comité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047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formalmente lo ya completado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013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hitos están al 100% de avance pero no marcados "Finalizado" (OP-07, OP-ID-03). Depurarlos mejora la precisión del próximo reporte.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5059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Atender los 6 hitos vencidos esta semana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614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6 están en Plataformas e Identidades. Decidir si se reprograman con nueva fecha o se escalan como bloqueo formal.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1071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Descomprimir el cierre de Q4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2160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iniciativa activa está hoy "alineada al plan sin presión de cierre": 11 de 14 tienen la mayoría de sus hitos pendientes cerrando en oct-dic. Adelantar hitos donde sea posible.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7083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inmediato en las 6 de riesgo alto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6817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OP-ID-03, OP-ID-10, OP-PL-06, OP-PL-17, OP-PL-19 y OP-PL-20 combinan atraso vs. plan y cierre concentrado en Q4 — la combinación de mayor riesgo del portafolio.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2E5D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33095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cortes periódicos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6418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reporte es un snapshot único. Repetir la extracción mensualmente permite medir tendencia y velocidad real de ejecución.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de Ciberseguridad · Cloud / Plataformas / Identidades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2026-09-02T06:02:02Z</dcterms:created>
  <dcterms:modified xsi:type="dcterms:W3CDTF">2026-09-02T06:02:02Z</dcterms:modified>
</cp:coreProperties>
</file>